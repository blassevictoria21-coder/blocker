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presProps" Target="presProps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1" Type="http://schemas.openxmlformats.org/officeDocument/2006/relationships/tableStyles" Target="tableStyles.xml"/><Relationship Id="rId10" Type="http://schemas.openxmlformats.org/officeDocument/2006/relationships/viewProps" Target="viewProps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5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E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49060" y="1325880"/>
            <a:ext cx="3840480" cy="3840480"/>
          </a:xfrm>
          <a:prstGeom prst="ellipse">
            <a:avLst/>
          </a:prstGeom>
          <a:solidFill>
            <a:srgbClr val="0F9B8E">
              <a:alpha val="12000"/>
            </a:srgbClr>
          </a:solidFill>
        </p:spPr>
      </p:sp>
      <p:sp>
        <p:nvSpPr>
          <p:cNvPr id="3" name="Shape 1"/>
          <p:cNvSpPr/>
          <p:nvPr/>
        </p:nvSpPr>
        <p:spPr>
          <a:xfrm>
            <a:off x="6257925" y="3383280"/>
            <a:ext cx="3291840" cy="3291840"/>
          </a:xfrm>
          <a:prstGeom prst="ellipse">
            <a:avLst/>
          </a:prstGeom>
          <a:solidFill>
            <a:srgbClr val="0F9B8E">
              <a:alpha val="10000"/>
            </a:srgbClr>
          </a:solidFill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640080"/>
            <a:ext cx="685800" cy="6858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22960" y="1965960"/>
            <a:ext cx="1051560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EMAIL SPAM BLOCKER</a:t>
            </a:r>
            <a:endParaRPr lang="en-US" sz="4000" dirty="0"/>
          </a:p>
        </p:txBody>
      </p:sp>
      <p:sp>
        <p:nvSpPr>
          <p:cNvPr id="6" name="Text 3"/>
          <p:cNvSpPr/>
          <p:nvPr/>
        </p:nvSpPr>
        <p:spPr>
          <a:xfrm>
            <a:off x="822960" y="2697480"/>
            <a:ext cx="105156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dirty="0">
                <a:solidFill>
                  <a:srgbClr val="0F9B8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Threat Detection Using Artificial Intelligence</a:t>
            </a:r>
            <a:endParaRPr lang="en-US" sz="2000" dirty="0"/>
          </a:p>
        </p:txBody>
      </p:sp>
      <p:sp>
        <p:nvSpPr>
          <p:cNvPr id="7" name="Shape 4"/>
          <p:cNvSpPr/>
          <p:nvPr/>
        </p:nvSpPr>
        <p:spPr>
          <a:xfrm>
            <a:off x="822960" y="3429000"/>
            <a:ext cx="2926080" cy="0"/>
          </a:xfrm>
          <a:prstGeom prst="line">
            <a:avLst/>
          </a:prstGeom>
          <a:noFill/>
          <a:ln w="19050">
            <a:solidFill>
              <a:srgbClr val="0F9B8E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22960" y="3794760"/>
            <a:ext cx="7315200" cy="11887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600" b="1" dirty="0">
                <a:solidFill>
                  <a:srgbClr val="E9F1F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Blasse Victoria Mmbone</a:t>
            </a:r>
            <a:endParaRPr lang="en-US" sz="1600" dirty="0"/>
          </a:p>
          <a:p>
            <a:pPr marL="0" indent="0" algn="l">
              <a:lnSpc>
                <a:spcPct val="130000"/>
              </a:lnSpc>
              <a:buNone/>
            </a:pPr>
            <a:r>
              <a:rPr lang="en-US" sz="1300" dirty="0">
                <a:solidFill>
                  <a:srgbClr val="E9F1F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Admission No: KIT/GS/113/25</a:t>
            </a:r>
            <a:endParaRPr lang="en-US" sz="1600" dirty="0"/>
          </a:p>
          <a:p>
            <a:pPr marL="0" indent="0" algn="l">
              <a:lnSpc>
                <a:spcPct val="130000"/>
              </a:lnSpc>
              <a:buNone/>
            </a:pPr>
            <a:r>
              <a:rPr lang="en-US" sz="1300" dirty="0">
                <a:solidFill>
                  <a:srgbClr val="E9F1F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Kiriri Women's University of Science and Technology</a:t>
            </a:r>
            <a:endParaRPr lang="en-US" sz="1600" dirty="0"/>
          </a:p>
          <a:p>
            <a:pPr marL="0" indent="0" algn="l">
              <a:lnSpc>
                <a:spcPct val="130000"/>
              </a:lnSpc>
              <a:buNone/>
            </a:pPr>
            <a:r>
              <a:rPr lang="en-US" sz="1300" dirty="0">
                <a:solidFill>
                  <a:srgbClr val="E9F1F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Supervisor: Dr. Waweru Stephen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108960" cy="6858000"/>
          </a:xfrm>
          <a:prstGeom prst="rect">
            <a:avLst/>
          </a:prstGeom>
          <a:solidFill>
            <a:srgbClr val="0B1E3D"/>
          </a:solidFill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5840" y="2468880"/>
            <a:ext cx="1097280" cy="10972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3749040"/>
            <a:ext cx="2194560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DECLARATION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3657600" y="914400"/>
            <a:ext cx="7772400" cy="11887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500" dirty="0">
                <a:solidFill>
                  <a:srgbClr val="0B1E3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This project report is my original work and has not been presented for a degree or any other award in any other university.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3657600" y="2331720"/>
            <a:ext cx="7772400" cy="1417320"/>
          </a:xfrm>
          <a:prstGeom prst="roundRect">
            <a:avLst>
              <a:gd name="adj" fmla="val 5161"/>
            </a:avLst>
          </a:prstGeom>
          <a:solidFill>
            <a:srgbClr val="E9F1F7"/>
          </a:solidFill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3977640" y="2560320"/>
            <a:ext cx="7223760" cy="10058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 b="1" dirty="0">
                <a:solidFill>
                  <a:srgbClr val="5B6B7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Student</a:t>
            </a:r>
            <a:endParaRPr lang="en-US" sz="1100" dirty="0"/>
          </a:p>
          <a:p>
            <a:pPr marL="0" indent="0" algn="l">
              <a:lnSpc>
                <a:spcPct val="130000"/>
              </a:lnSpc>
              <a:buNone/>
            </a:pPr>
            <a:r>
              <a:rPr lang="en-US" sz="1500" dirty="0">
                <a:solidFill>
                  <a:srgbClr val="0B1E3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Blasse Victoria Mmbone</a:t>
            </a:r>
            <a:endParaRPr lang="en-US" sz="1100" dirty="0"/>
          </a:p>
          <a:p>
            <a:pPr marL="0" indent="0" algn="l">
              <a:lnSpc>
                <a:spcPct val="130000"/>
              </a:lnSpc>
              <a:buNone/>
            </a:pPr>
            <a:r>
              <a:rPr lang="en-US" sz="1200" dirty="0">
                <a:solidFill>
                  <a:srgbClr val="5B6B7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Signature: ____________________   Date: ____________________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3657600" y="3977640"/>
            <a:ext cx="7772400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500" dirty="0">
                <a:solidFill>
                  <a:srgbClr val="0B1E3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This project report has been submitted for examination with my approval as the university supervisor.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3657600" y="5029200"/>
            <a:ext cx="7772400" cy="1417320"/>
          </a:xfrm>
          <a:prstGeom prst="roundRect">
            <a:avLst>
              <a:gd name="adj" fmla="val 5161"/>
            </a:avLst>
          </a:prstGeom>
          <a:solidFill>
            <a:srgbClr val="E9F1F7"/>
          </a:solidFill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3977640" y="5257800"/>
            <a:ext cx="7223760" cy="10058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 b="1" dirty="0">
                <a:solidFill>
                  <a:srgbClr val="5B6B7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Supervisor</a:t>
            </a:r>
            <a:endParaRPr lang="en-US" sz="1100" dirty="0"/>
          </a:p>
          <a:p>
            <a:pPr marL="0" indent="0" algn="l">
              <a:lnSpc>
                <a:spcPct val="130000"/>
              </a:lnSpc>
              <a:buNone/>
            </a:pPr>
            <a:r>
              <a:rPr lang="en-US" sz="1500" dirty="0">
                <a:solidFill>
                  <a:srgbClr val="0B1E3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Dr. Waweru Stephen</a:t>
            </a:r>
            <a:endParaRPr lang="en-US" sz="1100" dirty="0"/>
          </a:p>
          <a:p>
            <a:pPr marL="0" indent="0" algn="l">
              <a:lnSpc>
                <a:spcPct val="130000"/>
              </a:lnSpc>
              <a:buNone/>
            </a:pPr>
            <a:r>
              <a:rPr lang="en-US" sz="1200" dirty="0">
                <a:solidFill>
                  <a:srgbClr val="5B6B7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Signature: ____________________   Date: ____________________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E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1828800"/>
            <a:ext cx="4572000" cy="4572000"/>
          </a:xfrm>
          <a:prstGeom prst="ellipse">
            <a:avLst/>
          </a:prstGeom>
          <a:solidFill>
            <a:srgbClr val="0F9B8E">
              <a:alpha val="10000"/>
            </a:srgbClr>
          </a:solidFill>
        </p:spPr>
      </p:sp>
      <p:sp>
        <p:nvSpPr>
          <p:cNvPr id="3" name="Shape 1"/>
          <p:cNvSpPr/>
          <p:nvPr/>
        </p:nvSpPr>
        <p:spPr>
          <a:xfrm>
            <a:off x="9875520" y="4846320"/>
            <a:ext cx="4114800" cy="4114800"/>
          </a:xfrm>
          <a:prstGeom prst="ellipse">
            <a:avLst/>
          </a:prstGeom>
          <a:solidFill>
            <a:srgbClr val="0F9B8E">
              <a:alpha val="10000"/>
            </a:srgbClr>
          </a:solidFill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32120" y="1188720"/>
            <a:ext cx="1005840" cy="10058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508760" y="2423160"/>
            <a:ext cx="91440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DEDICATION</a:t>
            </a:r>
            <a:endParaRPr lang="en-US" sz="2800" dirty="0"/>
          </a:p>
        </p:txBody>
      </p:sp>
      <p:sp>
        <p:nvSpPr>
          <p:cNvPr id="6" name="Text 3"/>
          <p:cNvSpPr/>
          <p:nvPr/>
        </p:nvSpPr>
        <p:spPr>
          <a:xfrm>
            <a:off x="1737360" y="3246120"/>
            <a:ext cx="8686800" cy="1463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1800" i="1" dirty="0">
                <a:solidFill>
                  <a:srgbClr val="E9F1F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This work is dedicated to my father, Bonface Shaba, whose unwavering support and encouragement have been the foundation of this achievement.</a:t>
            </a:r>
            <a:endParaRPr lang="en-US" sz="1800" dirty="0"/>
          </a:p>
        </p:txBody>
      </p:sp>
      <p:sp>
        <p:nvSpPr>
          <p:cNvPr id="7" name="Shape 4"/>
          <p:cNvSpPr/>
          <p:nvPr/>
        </p:nvSpPr>
        <p:spPr>
          <a:xfrm>
            <a:off x="5394960" y="4892040"/>
            <a:ext cx="1371600" cy="0"/>
          </a:xfrm>
          <a:prstGeom prst="line">
            <a:avLst/>
          </a:prstGeom>
          <a:noFill/>
          <a:ln w="19050">
            <a:solidFill>
              <a:srgbClr val="0F9B8E"/>
            </a:solidFill>
            <a:prstDash val="solid"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640080"/>
            <a:ext cx="548640" cy="5486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508760" y="658368"/>
            <a:ext cx="73152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1E3D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ACKNOWLEDGEMENT</a:t>
            </a:r>
            <a:endParaRPr lang="en-US" sz="2800" dirty="0"/>
          </a:p>
        </p:txBody>
      </p:sp>
      <p:sp>
        <p:nvSpPr>
          <p:cNvPr id="4" name="Shape 1"/>
          <p:cNvSpPr/>
          <p:nvPr/>
        </p:nvSpPr>
        <p:spPr>
          <a:xfrm>
            <a:off x="822960" y="1600200"/>
            <a:ext cx="10515600" cy="4480560"/>
          </a:xfrm>
          <a:prstGeom prst="roundRect">
            <a:avLst>
              <a:gd name="adj" fmla="val 1633"/>
            </a:avLst>
          </a:prstGeom>
          <a:solidFill>
            <a:srgbClr val="E9F1F7"/>
          </a:solidFill>
          <a:effectLst>
            <a:outerShdw blurRad="101600" dist="254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5" name="Text 2"/>
          <p:cNvSpPr/>
          <p:nvPr/>
        </p:nvSpPr>
        <p:spPr>
          <a:xfrm>
            <a:off x="1234440" y="1920240"/>
            <a:ext cx="969264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dirty="0">
                <a:solidFill>
                  <a:srgbClr val="0B1E3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 would like to express my sincere gratitude to God for granting me the strength, wisdom, and good health throughout the course of this project.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1234440" y="2743200"/>
            <a:ext cx="969264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dirty="0">
                <a:solidFill>
                  <a:srgbClr val="0B1E3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My heartfelt appreciation goes to my supervisor, Dr. Waweru Stephen, for his invaluable guidance, patience, and constructive feedback throughout the development of this project.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1234440" y="3611880"/>
            <a:ext cx="969264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dirty="0">
                <a:solidFill>
                  <a:srgbClr val="0B1E3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 am also grateful to the faculty and staff of Kiriri Women's University of Science and Technology for the knowledge and resources that made this work possible.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1234440" y="4480560"/>
            <a:ext cx="969264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dirty="0">
                <a:solidFill>
                  <a:srgbClr val="0B1E3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Finally, I extend special thanks to my family and friends for their unwavering support and encouragement during this journey.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640080"/>
            <a:ext cx="548640" cy="5486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508760" y="658368"/>
            <a:ext cx="73152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1E3D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ABSTRACT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822960" y="1554480"/>
            <a:ext cx="6492240" cy="1737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400" dirty="0">
                <a:solidFill>
                  <a:srgbClr val="0B1E3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Email spam remains a persistent threat to organizational and individual communication, often serving as a vector for phishing, malware, and fraud. Traditional rule-based and signature-based filters struggle to keep pace with increasingly sophisticated spam techniques.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822960" y="3337560"/>
            <a:ext cx="6492240" cy="11887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400" dirty="0">
                <a:solidFill>
                  <a:srgbClr val="0B1E3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This project proposes an AI-driven Email Spam Blocker that leverages machine learning and natural language processing techniques to detect and classify spam with greater accuracy and adaptability.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822960" y="4572000"/>
            <a:ext cx="6492240" cy="11887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400" dirty="0">
                <a:solidFill>
                  <a:srgbClr val="0B1E3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system is trained and evaluated using established datasets, including SpamAssassin, Enron, TREC 2007, and Ling-Spam, with the aim of improving detection performance over conventional methods.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7635240" y="1554480"/>
            <a:ext cx="3703320" cy="4206240"/>
          </a:xfrm>
          <a:prstGeom prst="roundRect">
            <a:avLst>
              <a:gd name="adj" fmla="val 2469"/>
            </a:avLst>
          </a:prstGeom>
          <a:solidFill>
            <a:srgbClr val="0B1E3D"/>
          </a:solidFill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0" y="1874520"/>
            <a:ext cx="457200" cy="45720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8595360" y="1920240"/>
            <a:ext cx="26517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Key Datasets</a:t>
            </a:r>
            <a:endParaRPr lang="en-US" sz="1400" dirty="0"/>
          </a:p>
        </p:txBody>
      </p:sp>
      <p:sp>
        <p:nvSpPr>
          <p:cNvPr id="10" name="Text 6"/>
          <p:cNvSpPr/>
          <p:nvPr/>
        </p:nvSpPr>
        <p:spPr>
          <a:xfrm>
            <a:off x="8001000" y="2514600"/>
            <a:ext cx="3108960" cy="1371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342900" indent="-342900" algn="l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E9F1F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SpamAssassin Corpus</a:t>
            </a:r>
            <a:endParaRPr lang="en-US" sz="1250" dirty="0"/>
          </a:p>
          <a:p>
            <a:pPr marL="342900" indent="-342900" algn="l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E9F1F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Enron Email Dataset</a:t>
            </a:r>
            <a:endParaRPr lang="en-US" sz="1250" dirty="0"/>
          </a:p>
          <a:p>
            <a:pPr marL="342900" indent="-342900" algn="l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E9F1F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TREC 2007 Spam Corpus</a:t>
            </a:r>
            <a:endParaRPr lang="en-US" sz="1250" dirty="0"/>
          </a:p>
          <a:p>
            <a:pPr marL="342900" indent="-342900" algn="l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E9F1F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Ling-Spam Dataset</a:t>
            </a:r>
            <a:endParaRPr lang="en-US" sz="1250" dirty="0"/>
          </a:p>
        </p:txBody>
      </p:sp>
      <p:sp>
        <p:nvSpPr>
          <p:cNvPr id="11" name="Shape 7"/>
          <p:cNvSpPr/>
          <p:nvPr/>
        </p:nvSpPr>
        <p:spPr>
          <a:xfrm>
            <a:off x="8001000" y="4114800"/>
            <a:ext cx="3063240" cy="0"/>
          </a:xfrm>
          <a:prstGeom prst="line">
            <a:avLst/>
          </a:prstGeom>
          <a:noFill/>
          <a:ln w="12700">
            <a:solidFill>
              <a:srgbClr val="0F9B8E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8001000" y="4251960"/>
            <a:ext cx="26517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Approach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8001000" y="4617720"/>
            <a:ext cx="3108960" cy="10515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250" dirty="0">
                <a:solidFill>
                  <a:srgbClr val="E9F1F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Machine learning &amp; NLP-based classification for adaptive, high-accuracy spam and threat detection.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2238</Words>
  <Application>WPS Presentation</Application>
  <PresentationFormat>On-screen Show (16:9)</PresentationFormat>
  <Paragraphs>56</Paragraphs>
  <Slides>5</Slides>
  <Notes>5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</vt:i4>
      </vt:variant>
    </vt:vector>
  </HeadingPairs>
  <TitlesOfParts>
    <vt:vector size="17" baseType="lpstr">
      <vt:lpstr>Arial</vt:lpstr>
      <vt:lpstr>SimSun</vt:lpstr>
      <vt:lpstr>Wingdings</vt:lpstr>
      <vt:lpstr>Cambria</vt:lpstr>
      <vt:lpstr>Cambria</vt:lpstr>
      <vt:lpstr>Cambria</vt:lpstr>
      <vt:lpstr>Calibri</vt:lpstr>
      <vt:lpstr>Calibri</vt:lpstr>
      <vt:lpstr>Calibri</vt:lpstr>
      <vt:lpstr>Microsoft YaHei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Email Spam Blocker: Threat Detection Using Artificial Intelligence</dc:title>
  <dc:creator>Blasse Victoria Mmbone</dc:creator>
  <dc:subject>PptxGenJS Presentation</dc:subject>
  <cp:lastModifiedBy>Blasse</cp:lastModifiedBy>
  <cp:revision>2</cp:revision>
  <dcterms:created xsi:type="dcterms:W3CDTF">2026-07-09T12:19:00Z</dcterms:created>
  <dcterms:modified xsi:type="dcterms:W3CDTF">2026-07-09T12:25:42Z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F407F6DBFD394B3EBB8DE7087C8E7C1B_13</vt:lpwstr>
  </property>
  <property fmtid="{D5CDD505-2E9C-101B-9397-08002B2CF9AE}" pid="3" name="KSOProductBuildVer">
    <vt:lpwstr>1033-12.1.0.26880</vt:lpwstr>
  </property>
</Properties>
</file>